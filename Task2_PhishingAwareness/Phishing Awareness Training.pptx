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eorgia Pro Condensed Light" charset="1" panose="02040306050405020303"/>
      <p:regular r:id="rId17"/>
    </p:embeddedFont>
    <p:embeddedFont>
      <p:font typeface="TT Interphases" charset="1" panose="02000503020000020004"/>
      <p:regular r:id="rId18"/>
    </p:embeddedFont>
    <p:embeddedFont>
      <p:font typeface="TT Interphases Bold" charset="1" panose="02000803060000020004"/>
      <p:regular r:id="rId19"/>
    </p:embeddedFont>
    <p:embeddedFont>
      <p:font typeface="Georgia Pro Condensed" charset="1" panose="020405060504050203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1562100"/>
            <a:ext cx="8629650" cy="8724900"/>
            <a:chOff x="0" y="0"/>
            <a:chExt cx="2482140" cy="2509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2140" cy="2509537"/>
            </a:xfrm>
            <a:custGeom>
              <a:avLst/>
              <a:gdLst/>
              <a:ahLst/>
              <a:cxnLst/>
              <a:rect r="r" b="b" t="t" l="l"/>
              <a:pathLst>
                <a:path h="2509537" w="2482140">
                  <a:moveTo>
                    <a:pt x="0" y="0"/>
                  </a:moveTo>
                  <a:lnTo>
                    <a:pt x="2482140" y="0"/>
                  </a:lnTo>
                  <a:lnTo>
                    <a:pt x="2482140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l="0" t="-80" r="0" b="-8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19250"/>
            <a:ext cx="6886575" cy="303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 strike="noStrike" u="none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Phishing Awareness Training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9250829"/>
            <a:ext cx="7056308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0"/>
              </a:lnSpc>
            </a:pPr>
            <a:r>
              <a:rPr lang="en-US" sz="2100" strike="noStrike" u="none">
                <a:solidFill>
                  <a:srgbClr val="D4DCE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Presented by: [Kavya.N], Cybersecurity Intern-CodeAlpa</a:t>
            </a:r>
          </a:p>
        </p:txBody>
      </p:sp>
      <p:sp>
        <p:nvSpPr>
          <p:cNvPr name="AutoShape 6" id="6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66750" y="695325"/>
            <a:ext cx="169545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00"/>
              </a:lnSpc>
            </a:pPr>
            <a:r>
              <a:rPr lang="en-US" b="true" sz="21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PHISHING AWARENESS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47675"/>
            <a:ext cx="12866511" cy="268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7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INTRODUCTION TO </a:t>
            </a:r>
          </a:p>
          <a:p>
            <a:pPr algn="l" marL="0" indent="0" lvl="0">
              <a:lnSpc>
                <a:spcPts val="10800"/>
              </a:lnSpc>
            </a:pPr>
            <a:r>
              <a:rPr lang="en-US" sz="7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PHISHING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89654"/>
            <a:ext cx="11690152" cy="424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Phishing is a cyber attack where attackers impersonate trusted entities.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The goal is to steal sensitive information such as: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Login credentials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Banking details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Personal information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Phishing attacks mainly target human trust rather than systems.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5753100" cy="303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Types of Phishing Attacks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58125" y="657225"/>
            <a:ext cx="4314825" cy="2729864"/>
            <a:chOff x="0" y="0"/>
            <a:chExt cx="5753100" cy="3639819"/>
          </a:xfrm>
        </p:grpSpPr>
        <p:sp>
          <p:nvSpPr>
            <p:cNvPr name="AutoShape 4" id="4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1546225"/>
              <a:ext cx="5753100" cy="209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Fake emails appear legitimate and trick recipients into providing sensitive information like passwords or credit card numbers.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711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Email Phishing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06425" y="657225"/>
            <a:ext cx="4314825" cy="2729864"/>
            <a:chOff x="0" y="0"/>
            <a:chExt cx="5753100" cy="3639819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46225"/>
              <a:ext cx="5753100" cy="209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Fraudulent text messages contain malicious links, encouraging users to click and reveal personal or financial details.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711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SMS Phishing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58125" y="5133975"/>
            <a:ext cx="4314825" cy="2729864"/>
            <a:chOff x="0" y="0"/>
            <a:chExt cx="5753100" cy="3639819"/>
          </a:xfrm>
        </p:grpSpPr>
        <p:sp>
          <p:nvSpPr>
            <p:cNvPr name="AutoShape 12" id="12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1546225"/>
              <a:ext cx="5753100" cy="209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Phone calls impersonate trusted organizations, manipulating victims into sharing private information through urgency or threats.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711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Voice Phishing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06425" y="5133975"/>
            <a:ext cx="4314825" cy="2729864"/>
            <a:chOff x="0" y="0"/>
            <a:chExt cx="5753100" cy="3639819"/>
          </a:xfrm>
        </p:grpSpPr>
        <p:sp>
          <p:nvSpPr>
            <p:cNvPr name="AutoShape 16" id="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46225"/>
              <a:ext cx="5753100" cy="209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Copycat sites mimic legitimate ones, designed to harvest user data by luring victims into entering personal information.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711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Fake Websites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66750" y="61531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62340" y="2296878"/>
            <a:ext cx="4901883" cy="5693244"/>
          </a:xfrm>
          <a:custGeom>
            <a:avLst/>
            <a:gdLst/>
            <a:ahLst/>
            <a:cxnLst/>
            <a:rect r="r" b="b" t="t" l="l"/>
            <a:pathLst>
              <a:path h="5693244" w="4901883">
                <a:moveTo>
                  <a:pt x="0" y="0"/>
                </a:moveTo>
                <a:lnTo>
                  <a:pt x="4901883" y="0"/>
                </a:lnTo>
                <a:lnTo>
                  <a:pt x="4901883" y="5693244"/>
                </a:lnTo>
                <a:lnTo>
                  <a:pt x="0" y="569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23900"/>
            <a:ext cx="12160956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Characteristics of </a:t>
            </a:r>
          </a:p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Phishing Emails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3694989"/>
            <a:ext cx="8819317" cy="485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800"/>
              </a:lnSpc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Creates urgency or fear</a:t>
            </a:r>
          </a:p>
          <a:p>
            <a:pPr algn="just" marL="690881" indent="-345440" lvl="1">
              <a:lnSpc>
                <a:spcPts val="4800"/>
              </a:lnSpc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Requests immediate action</a:t>
            </a:r>
          </a:p>
          <a:p>
            <a:pPr algn="just" marL="690881" indent="-345440" lvl="1">
              <a:lnSpc>
                <a:spcPts val="4800"/>
              </a:lnSpc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Contains suspicious links or attachments</a:t>
            </a:r>
          </a:p>
          <a:p>
            <a:pPr algn="just" marL="690881" indent="-345440" lvl="1">
              <a:lnSpc>
                <a:spcPts val="4800"/>
              </a:lnSpc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Often includes spelling or grammar mistakes</a:t>
            </a: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    Example:</a:t>
            </a: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    </a:t>
            </a: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“Your account will be suspended. Verify immediately.”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38625"/>
            <a:ext cx="4314825" cy="2334577"/>
            <a:chOff x="0" y="0"/>
            <a:chExt cx="5753100" cy="311276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552575"/>
              <a:ext cx="5753100" cy="1560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Attackers create a </a:t>
              </a:r>
              <a:r>
                <a:rPr lang="en-US" b="true" sz="2100">
                  <a:solidFill>
                    <a:srgbClr val="D4DCE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sense of urgency</a:t>
              </a: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to compel quick decisions and bypass critical thinking.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11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Urgency</a:t>
              </a:r>
            </a:p>
          </p:txBody>
        </p:sp>
        <p:sp>
          <p:nvSpPr>
            <p:cNvPr name="AutoShape 5" id="5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15050" y="4238625"/>
            <a:ext cx="4314825" cy="2334577"/>
            <a:chOff x="0" y="0"/>
            <a:chExt cx="5753100" cy="311276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552575"/>
              <a:ext cx="5753100" cy="1560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 strike="noStrike" u="none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They often pretend to be someone you trust, like a colleague or bank representative, to manipulate you.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711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 strike="noStrike" u="none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Trust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868150" y="4238625"/>
            <a:ext cx="4619625" cy="2734627"/>
            <a:chOff x="0" y="0"/>
            <a:chExt cx="6159500" cy="364616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552575"/>
              <a:ext cx="6159500" cy="209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 strike="noStrike" u="none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Many phishing attempts offer rewards or threaten consequences to elicit immediate responses from potential victims.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71170"/>
              <a:ext cx="61595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 strike="noStrike" u="none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Rewards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Social Engineering Techniques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5753100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Identifying Phishing Emails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6750" y="61531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788505" y="4161049"/>
            <a:ext cx="7474863" cy="302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2" indent="-345441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Verify sender email addresses</a:t>
            </a:r>
          </a:p>
          <a:p>
            <a:pPr algn="just" marL="690882" indent="-345441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Hover over links before clicking</a:t>
            </a:r>
          </a:p>
          <a:p>
            <a:pPr algn="just" marL="690882" indent="-345441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Avoid sharing OTPs or passwords</a:t>
            </a:r>
          </a:p>
          <a:p>
            <a:pPr algn="just" marL="690882" indent="-345441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Check website URLs carefully</a:t>
            </a:r>
          </a:p>
          <a:p>
            <a:pPr algn="just" marL="690882" indent="-345441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Confirm messages through official channels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70682" y="3086100"/>
            <a:ext cx="3674516" cy="4114800"/>
          </a:xfrm>
          <a:custGeom>
            <a:avLst/>
            <a:gdLst/>
            <a:ahLst/>
            <a:cxnLst/>
            <a:rect r="r" b="b" t="t" l="l"/>
            <a:pathLst>
              <a:path h="4114800" w="3674516">
                <a:moveTo>
                  <a:pt x="0" y="0"/>
                </a:moveTo>
                <a:lnTo>
                  <a:pt x="3674516" y="0"/>
                </a:lnTo>
                <a:lnTo>
                  <a:pt x="3674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Fake Website Indicators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7225" y="3079022"/>
            <a:ext cx="6390323" cy="606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Slightly modified URLs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Missing HTTPS security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Poor design or broken pages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Requests for sensitive information</a:t>
            </a: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    </a:t>
            </a: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Example:</a:t>
            </a: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    </a:t>
            </a: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Legitimate: www.amazon.com  </a:t>
            </a: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    </a:t>
            </a: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Fake: www.amazon-login-support.net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551622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Best Practices for Protection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2449830"/>
            <a:ext cx="4314825" cy="2325052"/>
            <a:chOff x="0" y="0"/>
            <a:chExt cx="5753100" cy="310006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39875"/>
              <a:ext cx="5753100" cy="1560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</a:t>
              </a: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atches vulnerabilities, fixes bugs, and strengthens defenses against evolving cyber threats 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6482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Update Software</a:t>
              </a:r>
            </a:p>
          </p:txBody>
        </p:sp>
        <p:sp>
          <p:nvSpPr>
            <p:cNvPr name="AutoShape 6" id="6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15050" y="2454593"/>
            <a:ext cx="4314825" cy="2320289"/>
            <a:chOff x="0" y="0"/>
            <a:chExt cx="5753100" cy="3093719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33525"/>
              <a:ext cx="5753100" cy="1560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ombine uppercase, lowercase, numbers, and symbols to create unique, hard-to-guess passwords 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584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Strong Passwords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68150" y="2459355"/>
            <a:ext cx="4314825" cy="2725102"/>
            <a:chOff x="0" y="0"/>
            <a:chExt cx="5753100" cy="363346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539875"/>
              <a:ext cx="5753100" cy="209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Adds a</a:t>
              </a: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 extra layer of security by requiring a second form of verification, like a code sent to your phone, in addition to your password 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6482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Two-Factor Authentication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6393180"/>
            <a:ext cx="4314825" cy="2720339"/>
            <a:chOff x="0" y="0"/>
            <a:chExt cx="5753100" cy="3627119"/>
          </a:xfrm>
        </p:grpSpPr>
        <p:sp>
          <p:nvSpPr>
            <p:cNvPr name="AutoShape 16" id="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33525"/>
              <a:ext cx="5753100" cy="209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</a:t>
              </a: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ause and verify the sender, link, or attachment before clicking to avoid phishing scams, malware, or other cyber threats 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584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Think Before Clicking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24575" y="6393180"/>
            <a:ext cx="4314825" cy="2720339"/>
            <a:chOff x="0" y="0"/>
            <a:chExt cx="5753100" cy="3627119"/>
          </a:xfrm>
        </p:grpSpPr>
        <p:sp>
          <p:nvSpPr>
            <p:cNvPr name="AutoShape 20" id="20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1533525"/>
              <a:ext cx="5753100" cy="209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</a:pP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</a:t>
              </a:r>
              <a:r>
                <a:rPr lang="en-US" sz="2100">
                  <a:solidFill>
                    <a:srgbClr val="D4DCE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orward suspicious emails to the IT team or mark as spam to protect yourself and others from phishing attempts 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458470"/>
              <a:ext cx="5753100" cy="74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sz="3200">
                  <a:solidFill>
                    <a:srgbClr val="FFFFFF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Report Suspicious Emails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Real-World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2911" y="3465195"/>
            <a:ext cx="8568690" cy="545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Users received fake bank messages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Redirected to fraudulent websites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Login credentials were stolen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Financial loss occurred</a:t>
            </a: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    </a:t>
            </a: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Lesson:</a:t>
            </a:r>
          </a:p>
          <a:p>
            <a:pPr algn="just">
              <a:lnSpc>
                <a:spcPts val="4800"/>
              </a:lnSpc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    </a:t>
            </a: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Always verify before responding to urgent messages.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Phishing Awareness Quiz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5703570"/>
            <a:ext cx="6886575" cy="302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3200">
                <a:solidFill>
                  <a:srgbClr val="D4DCE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You rec</a:t>
            </a:r>
            <a:r>
              <a:rPr lang="en-US" sz="3200">
                <a:solidFill>
                  <a:srgbClr val="D4DCE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eive an email asking for OTP to “secure your account.”</a:t>
            </a:r>
          </a:p>
          <a:p>
            <a:pPr algn="l" marL="0" indent="0" lvl="0">
              <a:lnSpc>
                <a:spcPts val="4800"/>
              </a:lnSpc>
            </a:pPr>
            <a:r>
              <a:rPr lang="en-US" sz="3200">
                <a:solidFill>
                  <a:srgbClr val="D4DCE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Is this safe?</a:t>
            </a:r>
          </a:p>
          <a:p>
            <a:pPr algn="l" marL="0" indent="0" lvl="0">
              <a:lnSpc>
                <a:spcPts val="4800"/>
              </a:lnSpc>
            </a:pPr>
            <a:r>
              <a:rPr lang="en-US" sz="3200">
                <a:solidFill>
                  <a:srgbClr val="D4DCE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Answer:</a:t>
            </a:r>
          </a:p>
          <a:p>
            <a:pPr algn="l" marL="0" indent="0" lvl="0">
              <a:lnSpc>
                <a:spcPts val="4800"/>
              </a:lnSpc>
            </a:pPr>
            <a:r>
              <a:rPr lang="en-US" sz="3200">
                <a:solidFill>
                  <a:srgbClr val="D4DCE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No — This is a phishing attempt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7467" y="3585781"/>
            <a:ext cx="3314284" cy="4114800"/>
          </a:xfrm>
          <a:custGeom>
            <a:avLst/>
            <a:gdLst/>
            <a:ahLst/>
            <a:cxnLst/>
            <a:rect r="r" b="b" t="t" l="l"/>
            <a:pathLst>
              <a:path h="4114800" w="3314284">
                <a:moveTo>
                  <a:pt x="0" y="0"/>
                </a:moveTo>
                <a:lnTo>
                  <a:pt x="3314284" y="0"/>
                </a:lnTo>
                <a:lnTo>
                  <a:pt x="3314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3231451"/>
            <a:ext cx="8697873" cy="241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Phishing attacks exploit human behavior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Awareness is the strongest defense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Always think before clicking or sharing information</a:t>
            </a:r>
          </a:p>
          <a:p>
            <a:pPr algn="just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Cyber security starts with informed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Phishing Awareness Training</dc:description>
  <dc:identifier>DAHALzheEU4</dc:identifier>
  <dcterms:modified xsi:type="dcterms:W3CDTF">2011-08-01T06:04:30Z</dcterms:modified>
  <cp:revision>1</cp:revision>
  <dc:title>Presentation - Phishing Awareness Training</dc:title>
</cp:coreProperties>
</file>